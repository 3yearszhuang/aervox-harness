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5629f43d5a4313" /><Relationship Type="http://schemas.openxmlformats.org/officeDocument/2006/relationships/extended-properties" Target="/docProps/app.xml" Id="Rd82e56eb516f4a55" /><Relationship Type="http://schemas.openxmlformats.org/officeDocument/2006/relationships/officeDocument" Target="/ppt/presentation.xml" Id="R3423e0e366f140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4dd43d1fc14b72"/>
  </p:sldMasterIdLst>
  <p:notesMasterIdLst>
    <p:notesMasterId xmlns:r="http://schemas.openxmlformats.org/officeDocument/2006/relationships" r:id="R1626a4b1de1d4c3c"/>
  </p:notesMasterIdLst>
  <p:sldIdLst>
    <p:sldId xmlns:r="http://schemas.openxmlformats.org/officeDocument/2006/relationships" id="256" r:id="R89479b60dfdb4ea6"/>
    <p:sldId xmlns:r="http://schemas.openxmlformats.org/officeDocument/2006/relationships" id="257" r:id="Rabd0996707994f0e"/>
    <p:sldId xmlns:r="http://schemas.openxmlformats.org/officeDocument/2006/relationships" id="258" r:id="R6f0eb927a02f4b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f26e3a273f4896" /><Relationship Type="http://schemas.openxmlformats.org/officeDocument/2006/relationships/slideMaster" Target="/ppt/slideMasters/slideMaster1.xml" Id="Rc84dd43d1fc14b72" /><Relationship Type="http://schemas.openxmlformats.org/officeDocument/2006/relationships/notesMaster" Target="/ppt/notesMasters/notesMaster1.xml" Id="R1626a4b1de1d4c3c" /><Relationship Type="http://schemas.openxmlformats.org/officeDocument/2006/relationships/presProps" Target="/ppt/presProps.xml" Id="R010514b803b94195" /><Relationship Type="http://schemas.openxmlformats.org/officeDocument/2006/relationships/tableStyles" Target="/ppt/tableStyles.xml" Id="R29c06bfb78c841ed" /><Relationship Type="http://schemas.openxmlformats.org/officeDocument/2006/relationships/slide" Target="/ppt/slides/slide1.xml" Id="R89479b60dfdb4ea6" /><Relationship Type="http://schemas.openxmlformats.org/officeDocument/2006/relationships/slide" Target="/ppt/slides/slide2.xml" Id="Rabd0996707994f0e" /><Relationship Type="http://schemas.openxmlformats.org/officeDocument/2006/relationships/slide" Target="/ppt/slides/slide3.xml" Id="R6f0eb927a02f4b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e5dab9d1b64e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db08c94c58424a" /><Relationship Type="http://schemas.openxmlformats.org/officeDocument/2006/relationships/notesMaster" Target="/ppt/notesMasters/notesMaster1.xml" Id="R0f132fed29ca4b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3296bc3d064b0b" /><Relationship Type="http://schemas.openxmlformats.org/officeDocument/2006/relationships/notesMaster" Target="/ppt/notesMasters/notesMaster1.xml" Id="R4b87ddec577f4f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db06e474bd4884" /><Relationship Type="http://schemas.openxmlformats.org/officeDocument/2006/relationships/notesMaster" Target="/ppt/notesMasters/notesMaster1.xml" Id="R141b0b54780741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开场：Aervox 不把 AI 做成另一个聊天框，而是把行动入口放到用户每天都会看见的桌面上。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README.md（产品一句话定位）</a:t>
            </a:r>
          </a:p>
          <a:p xmlns:a="http://schemas.openxmlformats.org/drawingml/2006/main">
            <a:r>
              <a:t>- OpenAI ImageGen（本页主视觉，2026-08-29 生成）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宣传表达：用户卡住时，Aervox 的第一价值不是替代思考，而是让下一步变得足够清楚、足够轻。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docs/reference/PRD.md §1.1、§1.2、§3 场景 A–D</a:t>
            </a:r>
          </a:p>
          <a:p xmlns:a="http://schemas.openxmlformats.org/drawingml/2006/main">
            <a:r>
              <a:t>- OpenAI ImageGen（本页主视觉，2026-08-29 生成）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收束：桌宠不是装饰，而是降低启动阻力的入口；工作台承担可验证的学习闭环和数据沉淀。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§客户端形态</a:t>
            </a:r>
          </a:p>
          <a:p xmlns:a="http://schemas.openxmlformats.org/drawingml/2006/main">
            <a:r>
              <a:t>- docs/reference/PRD.md §1.2、§4.1、§4.2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da576d10994f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fd251ed4ed474c" /><Relationship Type="http://schemas.openxmlformats.org/officeDocument/2006/relationships/slideLayout" Target="/ppt/slideLayouts/slideLayout1.xml" Id="R756b68e9d8274e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6b68e9d8274e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5a6147d604c95" /><Relationship Type="http://schemas.openxmlformats.org/officeDocument/2006/relationships/image" Target="/ppt/media/image.png" Id="R6cc9cd5d5bce449e" /><Relationship Type="http://schemas.openxmlformats.org/officeDocument/2006/relationships/notesSlide" Target="/ppt/notesSlides/notesSlide1.xml" Id="R62ecd36b10ef40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9be775c2f499d" /><Relationship Type="http://schemas.openxmlformats.org/officeDocument/2006/relationships/image" Target="/ppt/media/image2.png" Id="R60712577c4714339" /><Relationship Type="http://schemas.openxmlformats.org/officeDocument/2006/relationships/notesSlide" Target="/ppt/notesSlides/notesSlide2.xml" Id="Rde151c1161ab4c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6978e42004ae3" /><Relationship Type="http://schemas.openxmlformats.org/officeDocument/2006/relationships/notesSlide" Target="/ppt/notesSlides/notesSlide3.xml" Id="Rcbc982ea618c464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c9cd5d5bce449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9D5DA4F6-3A3F-49B2-8DE9-79DEAE83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490C2"/>
                </a:solidFill>
              </a:defRPr>
            </a:pPr>
            <a:r>
              <a:rPr sz="1800" b="1">
                <a:solidFill>
                  <a:srgbClr val="A490C2"/>
                </a:solidFill>
              </a:rPr>
              <a:t>Aervox｜思隅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4496CF4-91D9-47EE-98D9-15AB2EA5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5810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E6E6FA"/>
                </a:solidFill>
              </a:defRPr>
            </a:pPr>
            <a:r>
              <a:rPr sz="4350" b="1">
                <a:solidFill>
                  <a:srgbClr val="E6E6FA"/>
                </a:solidFill>
              </a:rPr>
              <a:t>让 AI 从回答问题，</a:t>
            </a:r>
          </a:p>
          <a:p xmlns:a="http://schemas.openxmlformats.org/drawingml/2006/main">
            <a:pPr>
              <a:defRPr sz="4350" b="1">
                <a:solidFill>
                  <a:srgbClr val="E6E6FA"/>
                </a:solidFill>
              </a:defRPr>
            </a:pPr>
            <a:r>
              <a:rPr sz="4350" b="1">
                <a:solidFill>
                  <a:srgbClr val="E6E6FA"/>
                </a:solidFill>
              </a:rPr>
              <a:t>走到陪你完成学习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5870049-330E-48B3-8414-5A279B9F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6E6FA"/>
                </a:solidFill>
              </a:defRPr>
            </a:pPr>
            <a:r>
              <a:rPr sz="1650">
                <a:solidFill>
                  <a:srgbClr val="E6E6FA"/>
                </a:solidFill>
              </a:rPr>
              <a:t>桌宠入口 × 视觉小说式互动 × 学习闭环</a:t>
            </a:r>
          </a:p>
        </p:txBody>
      </p:sp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79252C16-56D2-4228-B00A-8A9E5AED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674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490C2"/>
                </a:solidFill>
              </a:defRPr>
            </a:pPr>
            <a:r>
              <a:rPr sz="1050">
                <a:solidFill>
                  <a:srgbClr val="A490C2"/>
                </a:solidFill>
              </a:rPr>
              <a:t>AI 黑客松 · 商业路演视觉小样</a:t>
            </a:r>
          </a:p>
        </p:txBody>
      </p:sp>
    </p:spTree>
    <p:extLst>
      <p:ext uri="{BB962C8B-B14F-4D97-AF65-F5344CB8AC3E}">
        <p14:creationId xmlns:p14="http://schemas.microsoft.com/office/powerpoint/2010/main" val="13866812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712577c471433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xperience-line-1">
            <a:extLst xmlns:a="http://schemas.openxmlformats.org/drawingml/2006/main">
              <a:ext uri="{FF2B5EF4-FFF2-40B4-BE49-F238E27FC236}">
                <a16:creationId xmlns:a16="http://schemas.microsoft.com/office/drawing/2014/main" id="{F70DADFE-6D70-4339-915B-C3551E3F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E6E6FA"/>
                </a:solidFill>
              </a:defRPr>
            </a:pPr>
            <a:r>
              <a:rPr sz="4050" b="1">
                <a:solidFill>
                  <a:srgbClr val="E6E6FA"/>
                </a:solidFill>
              </a:rPr>
              <a:t>卡住时，</a:t>
            </a:r>
          </a:p>
        </p:txBody>
      </p:sp>
      <p:sp>
        <p:nvSpPr>
          <p:cNvPr id="3" name="experience-line-2">
            <a:extLst xmlns:a="http://schemas.openxmlformats.org/drawingml/2006/main">
              <a:ext uri="{FF2B5EF4-FFF2-40B4-BE49-F238E27FC236}">
                <a16:creationId xmlns:a16="http://schemas.microsoft.com/office/drawing/2014/main" id="{5E216FBE-CDCC-4BBC-8727-B9607B54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5143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E6E6FA"/>
                </a:solidFill>
              </a:defRPr>
            </a:pPr>
            <a:r>
              <a:rPr sz="4050" b="1">
                <a:solidFill>
                  <a:srgbClr val="E6E6FA"/>
                </a:solidFill>
              </a:rPr>
              <a:t>它先陪你找到</a:t>
            </a:r>
          </a:p>
        </p:txBody>
      </p:sp>
      <p:sp>
        <p:nvSpPr>
          <p:cNvPr id="4" name="experience-line-3">
            <a:extLst xmlns:a="http://schemas.openxmlformats.org/drawingml/2006/main">
              <a:ext uri="{FF2B5EF4-FFF2-40B4-BE49-F238E27FC236}">
                <a16:creationId xmlns:a16="http://schemas.microsoft.com/office/drawing/2014/main" id="{96CFBA89-4033-4C60-98BC-C8925E0B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00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A490C2"/>
                </a:solidFill>
              </a:defRPr>
            </a:pPr>
            <a:r>
              <a:rPr sz="4950" b="1">
                <a:solidFill>
                  <a:srgbClr val="A490C2"/>
                </a:solidFill>
              </a:rPr>
              <a:t>下一步。</a:t>
            </a:r>
          </a:p>
        </p:txBody>
      </p:sp>
      <p:sp>
        <p:nvSpPr>
          <p:cNvPr id="5" name="experience-promise">
            <a:extLst xmlns:a="http://schemas.openxmlformats.org/drawingml/2006/main">
              <a:ext uri="{FF2B5EF4-FFF2-40B4-BE49-F238E27FC236}">
                <a16:creationId xmlns:a16="http://schemas.microsoft.com/office/drawing/2014/main" id="{BB1EE066-15F7-4C01-904B-B29684A8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E6E6FA"/>
                </a:solidFill>
              </a:defRPr>
            </a:pPr>
            <a:r>
              <a:rPr sz="1350">
                <a:solidFill>
                  <a:srgbClr val="E6E6FA"/>
                </a:solidFill>
              </a:rPr>
              <a:t>不替你完成  ·  不制造压力  ·  不让错误被遗忘</a:t>
            </a:r>
          </a:p>
        </p:txBody>
      </p:sp>
      <p:sp>
        <p:nvSpPr>
          <p:cNvPr id="6" name="experience-signoff">
            <a:extLst xmlns:a="http://schemas.openxmlformats.org/drawingml/2006/main">
              <a:ext uri="{FF2B5EF4-FFF2-40B4-BE49-F238E27FC236}">
                <a16:creationId xmlns:a16="http://schemas.microsoft.com/office/drawing/2014/main" id="{E620A5C3-DC9F-406E-AA94-214FA9CB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7215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A490C2"/>
                </a:solidFill>
              </a:defRPr>
            </a:pPr>
            <a:r>
              <a:rPr sz="1425" b="1">
                <a:solidFill>
                  <a:srgbClr val="A490C2"/>
                </a:solidFill>
              </a:rPr>
              <a:t>Aervox，让成长有被记住的温度。</a:t>
            </a:r>
          </a:p>
        </p:txBody>
      </p:sp>
    </p:spTree>
    <p:extLst>
      <p:ext uri="{BB962C8B-B14F-4D97-AF65-F5344CB8AC3E}">
        <p14:creationId xmlns:p14="http://schemas.microsoft.com/office/powerpoint/2010/main" val="19067788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B1E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manifesto-kicker">
            <a:extLst xmlns:a="http://schemas.openxmlformats.org/drawingml/2006/main">
              <a:ext uri="{FF2B5EF4-FFF2-40B4-BE49-F238E27FC236}">
                <a16:creationId xmlns:a16="http://schemas.microsoft.com/office/drawing/2014/main" id="{2C5EC57B-C0FF-46C4-A17A-EA0CB4DD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A490C2"/>
                </a:solidFill>
              </a:defRPr>
            </a:pPr>
            <a:r>
              <a:rPr sz="1800" b="1">
                <a:solidFill>
                  <a:srgbClr val="A490C2"/>
                </a:solidFill>
              </a:rPr>
              <a:t>它会</a:t>
            </a:r>
          </a:p>
        </p:txBody>
      </p:sp>
      <p:sp>
        <p:nvSpPr>
          <p:cNvPr id="2" name="manifesto-appear">
            <a:extLst xmlns:a="http://schemas.openxmlformats.org/drawingml/2006/main">
              <a:ext uri="{FF2B5EF4-FFF2-40B4-BE49-F238E27FC236}">
                <a16:creationId xmlns:a16="http://schemas.microsoft.com/office/drawing/2014/main" id="{C0066172-374C-484B-88A8-5658E6E8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3143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E6E6FA"/>
                </a:solidFill>
              </a:defRPr>
            </a:pPr>
            <a:r>
              <a:rPr sz="6600" b="1">
                <a:solidFill>
                  <a:srgbClr val="E6E6FA"/>
                </a:solidFill>
              </a:rPr>
              <a:t>出现</a:t>
            </a:r>
          </a:p>
        </p:txBody>
      </p:sp>
      <p:sp>
        <p:nvSpPr>
          <p:cNvPr id="3" name="manifesto-appear-copy">
            <a:extLst xmlns:a="http://schemas.openxmlformats.org/drawingml/2006/main">
              <a:ext uri="{FF2B5EF4-FFF2-40B4-BE49-F238E27FC236}">
                <a16:creationId xmlns:a16="http://schemas.microsoft.com/office/drawing/2014/main" id="{C45F8666-B61D-4589-95DB-7930CC7C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771650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A490C2"/>
                </a:solidFill>
              </a:defRPr>
            </a:pPr>
            <a:r>
              <a:rPr sz="2025">
                <a:solidFill>
                  <a:srgbClr val="A490C2"/>
                </a:solidFill>
              </a:rPr>
              <a:t>在你准备开始的时候</a:t>
            </a:r>
          </a:p>
        </p:txBody>
      </p:sp>
      <p:sp>
        <p:nvSpPr>
          <p:cNvPr id="4" name="manifesto-remember">
            <a:extLst xmlns:a="http://schemas.openxmlformats.org/drawingml/2006/main">
              <a:ext uri="{FF2B5EF4-FFF2-40B4-BE49-F238E27FC236}">
                <a16:creationId xmlns:a16="http://schemas.microsoft.com/office/drawing/2014/main" id="{A5AF155C-1E84-4D1A-8EAE-9785B005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143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E6E6FA"/>
                </a:solidFill>
              </a:defRPr>
            </a:pPr>
            <a:r>
              <a:rPr sz="6600" b="1">
                <a:solidFill>
                  <a:srgbClr val="E6E6FA"/>
                </a:solidFill>
              </a:rPr>
              <a:t>记住</a:t>
            </a:r>
          </a:p>
        </p:txBody>
      </p:sp>
      <p:sp>
        <p:nvSpPr>
          <p:cNvPr id="5" name="manifesto-remember-copy">
            <a:extLst xmlns:a="http://schemas.openxmlformats.org/drawingml/2006/main">
              <a:ext uri="{FF2B5EF4-FFF2-40B4-BE49-F238E27FC236}">
                <a16:creationId xmlns:a16="http://schemas.microsoft.com/office/drawing/2014/main" id="{DE4CC529-A304-47F2-B91F-C7DFE3AF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23850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A490C2"/>
                </a:solidFill>
              </a:defRPr>
            </a:pPr>
            <a:r>
              <a:rPr sz="2025">
                <a:solidFill>
                  <a:srgbClr val="A490C2"/>
                </a:solidFill>
              </a:rPr>
              <a:t>你走过的路与真正的卡点</a:t>
            </a:r>
          </a:p>
        </p:txBody>
      </p:sp>
      <p:sp>
        <p:nvSpPr>
          <p:cNvPr id="6" name="manifesto-return">
            <a:extLst xmlns:a="http://schemas.openxmlformats.org/drawingml/2006/main">
              <a:ext uri="{FF2B5EF4-FFF2-40B4-BE49-F238E27FC236}">
                <a16:creationId xmlns:a16="http://schemas.microsoft.com/office/drawing/2014/main" id="{5CCEDE3F-6643-4AEB-899E-691C7ADF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3143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E6E6FA"/>
                </a:solidFill>
              </a:defRPr>
            </a:pPr>
            <a:r>
              <a:rPr sz="6600" b="1">
                <a:solidFill>
                  <a:srgbClr val="E6E6FA"/>
                </a:solidFill>
              </a:rPr>
              <a:t>回来</a:t>
            </a:r>
          </a:p>
        </p:txBody>
      </p:sp>
      <p:sp>
        <p:nvSpPr>
          <p:cNvPr id="7" name="manifesto-return-copy">
            <a:extLst xmlns:a="http://schemas.openxmlformats.org/drawingml/2006/main">
              <a:ext uri="{FF2B5EF4-FFF2-40B4-BE49-F238E27FC236}">
                <a16:creationId xmlns:a16="http://schemas.microsoft.com/office/drawing/2014/main" id="{F19F51A1-B8E3-4433-AE7D-EC8B22DF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0535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A490C2"/>
                </a:solidFill>
              </a:defRPr>
            </a:pPr>
            <a:r>
              <a:rPr sz="2025">
                <a:solidFill>
                  <a:srgbClr val="A490C2"/>
                </a:solidFill>
              </a:rPr>
              <a:t>在遗忘之前，陪你再前进一步</a:t>
            </a:r>
          </a:p>
        </p:txBody>
      </p:sp>
      <p:sp>
        <p:nvSpPr>
          <p:cNvPr id="8" name="manifesto-close">
            <a:extLst xmlns:a="http://schemas.openxmlformats.org/drawingml/2006/main">
              <a:ext uri="{FF2B5EF4-FFF2-40B4-BE49-F238E27FC236}">
                <a16:creationId xmlns:a16="http://schemas.microsoft.com/office/drawing/2014/main" id="{52281E3E-525B-474E-8FB8-E776DB24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581650"/>
            <a:ext cx="4667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E6E6FA"/>
                </a:solidFill>
              </a:defRPr>
            </a:pPr>
            <a:r>
              <a:rPr sz="1500" b="1">
                <a:solidFill>
                  <a:srgbClr val="E6E6FA"/>
                </a:solidFill>
              </a:rPr>
              <a:t>这不是被动等待的工具。</a:t>
            </a:r>
          </a:p>
          <a:p xmlns:a="http://schemas.openxmlformats.org/drawingml/2006/main">
            <a:pPr algn="r">
              <a:defRPr sz="1500" b="1">
                <a:solidFill>
                  <a:srgbClr val="E6E6FA"/>
                </a:solidFill>
              </a:defRPr>
            </a:pPr>
            <a:r>
              <a:rPr sz="1500" b="1">
                <a:solidFill>
                  <a:srgbClr val="E6E6FA"/>
                </a:solidFill>
              </a:rPr>
              <a:t>这是一个与你共同生长的 AI 伙伴。</a:t>
            </a:r>
          </a:p>
        </p:txBody>
      </p:sp>
    </p:spTree>
    <p:extLst>
      <p:ext uri="{BB962C8B-B14F-4D97-AF65-F5344CB8AC3E}">
        <p14:creationId xmlns:p14="http://schemas.microsoft.com/office/powerpoint/2010/main" val="9265893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2026-08-29T08:23:27.0480000Z</dcterms:created>
  <dcterms:modified xsi:type="dcterms:W3CDTF">2026-08-29T08:23:27.0480000Z</dcterms:modified>
</coreProperties>
</file>